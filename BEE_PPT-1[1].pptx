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20" r:id="rId5"/>
    <p:sldId id="312" r:id="rId6"/>
    <p:sldId id="304" r:id="rId7"/>
    <p:sldId id="307" r:id="rId8"/>
    <p:sldId id="319" r:id="rId9"/>
    <p:sldId id="281" r:id="rId10"/>
    <p:sldId id="321" r:id="rId11"/>
    <p:sldId id="315" r:id="rId12"/>
    <p:sldId id="317" r:id="rId13"/>
    <p:sldId id="297"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388" autoAdjust="0"/>
  </p:normalViewPr>
  <p:slideViewPr>
    <p:cSldViewPr snapToGrid="0" snapToObjects="1">
      <p:cViewPr varScale="1">
        <p:scale>
          <a:sx n="78" d="100"/>
          <a:sy n="78" d="100"/>
        </p:scale>
        <p:origin x="835"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pPr/>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pPr/>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415B-0F34-A98C-F07F-4A5D4ABF21CF}"/>
              </a:ext>
            </a:extLst>
          </p:cNvPr>
          <p:cNvSpPr>
            <a:spLocks noGrp="1"/>
          </p:cNvSpPr>
          <p:nvPr>
            <p:ph type="ctrTitle"/>
          </p:nvPr>
        </p:nvSpPr>
        <p:spPr/>
        <p:txBody>
          <a:bodyPr/>
          <a:lstStyle/>
          <a:p>
            <a:r>
              <a:rPr lang="en-US" dirty="0"/>
              <a:t>FOODIE WEBSITE</a:t>
            </a:r>
            <a:endParaRPr lang="en-IN" dirty="0"/>
          </a:p>
        </p:txBody>
      </p:sp>
    </p:spTree>
    <p:extLst>
      <p:ext uri="{BB962C8B-B14F-4D97-AF65-F5344CB8AC3E}">
        <p14:creationId xmlns:p14="http://schemas.microsoft.com/office/powerpoint/2010/main" val="2737865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title"/>
          </p:nvPr>
        </p:nvSpPr>
        <p:spPr>
          <a:xfrm>
            <a:off x="914400" y="705114"/>
            <a:ext cx="6583680" cy="2375543"/>
          </a:xfrm>
        </p:spPr>
        <p:txBody>
          <a:bodyPr anchor="ctr"/>
          <a:lstStyle/>
          <a:p>
            <a:r>
              <a:rPr lang="en-US" sz="4800" dirty="0"/>
              <a:t>FOODIE – ONLINE FOOD ORDERING SYSTEM</a:t>
            </a:r>
            <a:br>
              <a:rPr lang="en-US" sz="4800" dirty="0"/>
            </a:br>
            <a:endParaRPr lang="en-US" sz="4800" dirty="0"/>
          </a:p>
        </p:txBody>
      </p:sp>
      <p:sp>
        <p:nvSpPr>
          <p:cNvPr id="3" name="TextBox 2">
            <a:extLst>
              <a:ext uri="{FF2B5EF4-FFF2-40B4-BE49-F238E27FC236}">
                <a16:creationId xmlns:a16="http://schemas.microsoft.com/office/drawing/2014/main" id="{08652DE6-4A7F-8DAE-5D9B-22C75EFEC16A}"/>
              </a:ext>
            </a:extLst>
          </p:cNvPr>
          <p:cNvSpPr txBox="1"/>
          <p:nvPr/>
        </p:nvSpPr>
        <p:spPr>
          <a:xfrm>
            <a:off x="-261257" y="3080657"/>
            <a:ext cx="6801479" cy="2215991"/>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Submitted by:</a:t>
            </a:r>
          </a:p>
          <a:p>
            <a:pPr algn="ctr"/>
            <a:r>
              <a:rPr lang="en-IN" sz="2400" dirty="0">
                <a:latin typeface="Times New Roman" panose="02020603050405020304" pitchFamily="18" charset="0"/>
                <a:cs typeface="Times New Roman" panose="02020603050405020304" pitchFamily="18" charset="0"/>
              </a:rPr>
              <a:t>       Aditi 2310990350</a:t>
            </a:r>
          </a:p>
          <a:p>
            <a:pPr algn="ctr"/>
            <a:r>
              <a:rPr lang="en-IN" sz="2400" dirty="0">
                <a:latin typeface="Times New Roman" panose="02020603050405020304" pitchFamily="18" charset="0"/>
                <a:cs typeface="Times New Roman" panose="02020603050405020304" pitchFamily="18" charset="0"/>
              </a:rPr>
              <a:t>           Divyam 2310990370</a:t>
            </a:r>
          </a:p>
          <a:p>
            <a:pPr algn="ctr"/>
            <a:r>
              <a:rPr lang="en-IN" sz="2400" dirty="0">
                <a:latin typeface="Times New Roman" panose="02020603050405020304" pitchFamily="18" charset="0"/>
                <a:cs typeface="Times New Roman" panose="02020603050405020304" pitchFamily="18" charset="0"/>
              </a:rPr>
              <a:t>              Himanshi 2310990380</a:t>
            </a:r>
          </a:p>
          <a:p>
            <a:pPr algn="ctr"/>
            <a:r>
              <a:rPr lang="en-IN" sz="2400" dirty="0">
                <a:latin typeface="Times New Roman" panose="02020603050405020304" pitchFamily="18" charset="0"/>
                <a:cs typeface="Times New Roman" panose="02020603050405020304" pitchFamily="18" charset="0"/>
              </a:rPr>
              <a:t>         Dhruv 2310990410</a:t>
            </a:r>
          </a:p>
          <a:p>
            <a:endParaRPr lang="en-IN" dirty="0"/>
          </a:p>
        </p:txBody>
      </p:sp>
    </p:spTree>
    <p:extLst>
      <p:ext uri="{BB962C8B-B14F-4D97-AF65-F5344CB8AC3E}">
        <p14:creationId xmlns:p14="http://schemas.microsoft.com/office/powerpoint/2010/main" val="220243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593387" y="671209"/>
            <a:ext cx="6583680" cy="1531357"/>
          </a:xfrm>
        </p:spPr>
        <p:txBody>
          <a:bodyPr/>
          <a:lstStyle/>
          <a:p>
            <a:r>
              <a:rPr lang="en-US" dirty="0"/>
              <a:t>Contents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729574" y="2441643"/>
            <a:ext cx="6583680" cy="3207344"/>
          </a:xfrm>
        </p:spPr>
        <p:txBody>
          <a:bodyPr>
            <a:normAutofit lnSpcReduction="10000"/>
          </a:bodyPr>
          <a:lstStyle/>
          <a:p>
            <a:r>
              <a:rPr lang="en-US" dirty="0">
                <a:solidFill>
                  <a:schemeClr val="tx1"/>
                </a:solidFill>
                <a:latin typeface="Times New Roman" pitchFamily="18" charset="0"/>
                <a:cs typeface="Times New Roman" pitchFamily="18" charset="0"/>
              </a:rPr>
              <a:t>Introduction</a:t>
            </a:r>
          </a:p>
          <a:p>
            <a:r>
              <a:rPr lang="en-US" dirty="0">
                <a:solidFill>
                  <a:schemeClr val="tx1"/>
                </a:solidFill>
                <a:latin typeface="Times New Roman" pitchFamily="18" charset="0"/>
                <a:cs typeface="Times New Roman" pitchFamily="18" charset="0"/>
              </a:rPr>
              <a:t>Problem Statement</a:t>
            </a:r>
          </a:p>
          <a:p>
            <a:r>
              <a:rPr lang="en-US" dirty="0">
                <a:solidFill>
                  <a:schemeClr val="tx1"/>
                </a:solidFill>
                <a:latin typeface="Times New Roman" pitchFamily="18" charset="0"/>
                <a:cs typeface="Times New Roman" pitchFamily="18" charset="0"/>
              </a:rPr>
              <a:t>Proposed Solution </a:t>
            </a:r>
          </a:p>
          <a:p>
            <a:r>
              <a:rPr lang="en-US" dirty="0">
                <a:solidFill>
                  <a:schemeClr val="tx1"/>
                </a:solidFill>
                <a:latin typeface="Times New Roman" pitchFamily="18" charset="0"/>
                <a:cs typeface="Times New Roman" pitchFamily="18" charset="0"/>
              </a:rPr>
              <a:t>Technology Stack</a:t>
            </a:r>
          </a:p>
          <a:p>
            <a:r>
              <a:rPr lang="en-US" dirty="0">
                <a:solidFill>
                  <a:schemeClr val="tx1"/>
                </a:solidFill>
                <a:latin typeface="Times New Roman" pitchFamily="18" charset="0"/>
                <a:cs typeface="Times New Roman" pitchFamily="18" charset="0"/>
              </a:rPr>
              <a:t>Features &amp; Functionalities</a:t>
            </a:r>
          </a:p>
          <a:p>
            <a:r>
              <a:rPr lang="en-US" dirty="0">
                <a:solidFill>
                  <a:schemeClr val="tx1"/>
                </a:solidFill>
                <a:latin typeface="Times New Roman" pitchFamily="18" charset="0"/>
                <a:cs typeface="Times New Roman" pitchFamily="18" charset="0"/>
              </a:rPr>
              <a:t>Future Scope</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022811" y="505838"/>
            <a:ext cx="6079786" cy="1396854"/>
          </a:xfrm>
        </p:spPr>
        <p:txBody>
          <a:bodyPr/>
          <a:lstStyle/>
          <a:p>
            <a:r>
              <a:rPr lang="en-US" sz="4800" dirty="0"/>
              <a:t>INTRODUCTION</a:t>
            </a:r>
            <a:br>
              <a:rPr lang="en-US" dirty="0"/>
            </a:br>
            <a:endParaRPr lang="en-US" dirty="0"/>
          </a:p>
        </p:txBody>
      </p:sp>
      <p:sp>
        <p:nvSpPr>
          <p:cNvPr id="5" name="TextBox 4">
            <a:extLst>
              <a:ext uri="{FF2B5EF4-FFF2-40B4-BE49-F238E27FC236}">
                <a16:creationId xmlns:a16="http://schemas.microsoft.com/office/drawing/2014/main" id="{D418C451-CA97-74D8-D151-75281762EB0D}"/>
              </a:ext>
            </a:extLst>
          </p:cNvPr>
          <p:cNvSpPr txBox="1"/>
          <p:nvPr/>
        </p:nvSpPr>
        <p:spPr>
          <a:xfrm>
            <a:off x="4022811" y="1224117"/>
            <a:ext cx="6687343" cy="5295330"/>
          </a:xfrm>
          <a:prstGeom prst="rect">
            <a:avLst/>
          </a:prstGeom>
          <a:noFill/>
        </p:spPr>
        <p:txBody>
          <a:bodyPr wrap="square" rtlCol="0">
            <a:spAutoFit/>
          </a:bodyPr>
          <a:lstStyle/>
          <a:p>
            <a:pPr algn="just"/>
            <a:r>
              <a:rPr lang="en-US" sz="2200" dirty="0"/>
              <a:t>The Foodie Food Ordering System is a Node.js-based web application designed to simplify food ordering and restaurant management. Customers can browse menus, place and track orders, while admins can manage menu items, users, and order processing. The system provides a user-friendly interface for customers to order food seamlessly and ensures that admins can efficiently manage daily operations. It reduces manual errors, improves service speed, and enhances customer satisfaction. Built using Express.js with authentication and modular APIs, the project is scalable, secure, and easy to extend with advanced features like mobile apps, cloud integration, and real-time order tracking in the future.</a:t>
            </a:r>
          </a:p>
          <a:p>
            <a:endParaRPr lang="en-IN" sz="2000" dirty="0">
              <a:latin typeface="Times New Roman" panose="02020603050405020304" pitchFamily="18" charset="0"/>
              <a:cs typeface="Times New Roman" panose="02020603050405020304" pitchFamily="18" charset="0"/>
            </a:endParaRPr>
          </a:p>
        </p:txBody>
      </p:sp>
      <p:pic>
        <p:nvPicPr>
          <p:cNvPr id="4" name="Picture 3" descr="A bowl of food with strawberries and a napkin&#10;&#10;AI-generated content may be incorrect.">
            <a:extLst>
              <a:ext uri="{FF2B5EF4-FFF2-40B4-BE49-F238E27FC236}">
                <a16:creationId xmlns:a16="http://schemas.microsoft.com/office/drawing/2014/main" id="{51CA34E5-EBAE-3230-9F0F-D1735CB6FFEE}"/>
              </a:ext>
            </a:extLst>
          </p:cNvPr>
          <p:cNvPicPr>
            <a:picLocks noChangeAspect="1"/>
          </p:cNvPicPr>
          <p:nvPr/>
        </p:nvPicPr>
        <p:blipFill>
          <a:blip r:embed="rId3"/>
          <a:stretch>
            <a:fillRect/>
          </a:stretch>
        </p:blipFill>
        <p:spPr>
          <a:xfrm>
            <a:off x="87765" y="338553"/>
            <a:ext cx="3685950" cy="2694933"/>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111033" y="1061623"/>
            <a:ext cx="3599821" cy="670462"/>
          </a:xfrm>
        </p:spPr>
        <p:txBody>
          <a:bodyPr/>
          <a:lstStyle/>
          <a:p>
            <a:r>
              <a:rPr lang="en-US" dirty="0"/>
              <a:t>Problem Statement</a:t>
            </a:r>
            <a:br>
              <a:rPr lang="en-US" dirty="0"/>
            </a:br>
            <a:endParaRPr lang="en-US" dirty="0"/>
          </a:p>
        </p:txBody>
      </p:sp>
      <p:sp>
        <p:nvSpPr>
          <p:cNvPr id="5" name="TextBox 4">
            <a:extLst>
              <a:ext uri="{FF2B5EF4-FFF2-40B4-BE49-F238E27FC236}">
                <a16:creationId xmlns:a16="http://schemas.microsoft.com/office/drawing/2014/main" id="{D418C451-CA97-74D8-D151-75281762EB0D}"/>
              </a:ext>
            </a:extLst>
          </p:cNvPr>
          <p:cNvSpPr txBox="1"/>
          <p:nvPr/>
        </p:nvSpPr>
        <p:spPr>
          <a:xfrm>
            <a:off x="4111034" y="1732085"/>
            <a:ext cx="6881384" cy="5170646"/>
          </a:xfrm>
          <a:prstGeom prst="rect">
            <a:avLst/>
          </a:prstGeom>
          <a:noFill/>
        </p:spPr>
        <p:txBody>
          <a:bodyPr wrap="square" rtlCol="0">
            <a:spAutoFit/>
          </a:bodyPr>
          <a:lstStyle/>
          <a:p>
            <a:r>
              <a:rPr lang="en-US" sz="2000" dirty="0"/>
              <a:t>Managing restaurant operations manually often leads to </a:t>
            </a:r>
            <a:r>
              <a:rPr lang="en-US" sz="2000" b="1" dirty="0"/>
              <a:t>inefficiency, errors, and customer dissatisfaction</a:t>
            </a:r>
            <a:r>
              <a:rPr lang="en-US" sz="2000" dirty="0"/>
              <a:t>. Traditional methods such as paper-based ordering or basic registers make it difficult to:</a:t>
            </a:r>
          </a:p>
          <a:p>
            <a:r>
              <a:rPr lang="en-US" sz="2000" dirty="0"/>
              <a:t>Keep track of orders during peak hours.</a:t>
            </a:r>
          </a:p>
          <a:p>
            <a:r>
              <a:rPr lang="en-US" sz="2000" dirty="0"/>
              <a:t>Update menus quickly when items run out or change.</a:t>
            </a:r>
          </a:p>
          <a:p>
            <a:r>
              <a:rPr lang="en-US" sz="2000" dirty="0"/>
              <a:t>Provide customers with live order status or delivery updates.</a:t>
            </a:r>
          </a:p>
          <a:p>
            <a:r>
              <a:rPr lang="en-US" sz="2000" dirty="0"/>
              <a:t>Maintain accurate records of customer history and preferences.</a:t>
            </a:r>
          </a:p>
          <a:p>
            <a:r>
              <a:rPr lang="en-US" sz="2000" dirty="0"/>
              <a:t>Prevent mistakes caused by miscommunication between staff and customers.</a:t>
            </a:r>
          </a:p>
          <a:p>
            <a:r>
              <a:rPr lang="en-US" sz="2000" dirty="0"/>
              <a:t>As customer expectations rise in the digital era, restaurants need a </a:t>
            </a:r>
            <a:r>
              <a:rPr lang="en-US" sz="2000" b="1" dirty="0"/>
              <a:t>reliable and automated system</a:t>
            </a:r>
            <a:r>
              <a:rPr lang="en-US" sz="2000" dirty="0"/>
              <a:t> to handle menu management, order processing, and user data efficiently. Without such a system, businesses risk </a:t>
            </a:r>
            <a:r>
              <a:rPr lang="en-US" sz="2000" b="1" dirty="0"/>
              <a:t>delays, errors, and losing customer trust</a:t>
            </a:r>
            <a:r>
              <a:rPr lang="en-US" sz="2000" dirty="0"/>
              <a:t>.</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49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8479971" y="685800"/>
            <a:ext cx="4609555" cy="2285999"/>
          </a:xfrm>
        </p:spPr>
        <p:txBody>
          <a:bodyPr/>
          <a:lstStyle/>
          <a:p>
            <a:r>
              <a:rPr lang="en-US" sz="4000" dirty="0"/>
              <a:t>Proposed Solution </a:t>
            </a:r>
            <a:br>
              <a:rPr lang="en-US" dirty="0"/>
            </a:br>
            <a:endParaRPr lang="en-US"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480544" y="685800"/>
            <a:ext cx="8088085" cy="5736771"/>
          </a:xfrm>
        </p:spPr>
        <p:txBody>
          <a:bodyPr>
            <a:normAutofit fontScale="77500" lnSpcReduction="20000"/>
          </a:bodyPr>
          <a:lstStyle/>
          <a:p>
            <a:r>
              <a:rPr lang="en-IN" b="1" dirty="0"/>
              <a:t>🔐 </a:t>
            </a:r>
            <a:r>
              <a:rPr lang="en-IN" b="1" dirty="0">
                <a:solidFill>
                  <a:schemeClr val="tx1"/>
                </a:solidFill>
              </a:rPr>
              <a:t>User Authentication</a:t>
            </a:r>
            <a:endParaRPr lang="en-IN" dirty="0">
              <a:solidFill>
                <a:schemeClr val="tx1"/>
              </a:solidFill>
            </a:endParaRPr>
          </a:p>
          <a:p>
            <a:pPr lvl="1"/>
            <a:r>
              <a:rPr lang="en-IN" dirty="0">
                <a:solidFill>
                  <a:schemeClr val="tx1"/>
                </a:solidFill>
              </a:rPr>
              <a:t>Secure login &amp; registration system.</a:t>
            </a:r>
          </a:p>
          <a:p>
            <a:pPr lvl="1"/>
            <a:r>
              <a:rPr lang="en-IN" dirty="0">
                <a:solidFill>
                  <a:schemeClr val="tx1"/>
                </a:solidFill>
              </a:rPr>
              <a:t>Role-based access (Admin/Customer).</a:t>
            </a:r>
          </a:p>
          <a:p>
            <a:pPr lvl="1"/>
            <a:r>
              <a:rPr lang="en-IN" dirty="0">
                <a:solidFill>
                  <a:schemeClr val="tx1"/>
                </a:solidFill>
              </a:rPr>
              <a:t>JWT-based authentication and session handling.</a:t>
            </a:r>
          </a:p>
          <a:p>
            <a:pPr marL="0" lvl="1" indent="0">
              <a:buNone/>
            </a:pPr>
            <a:endParaRPr lang="en-IN" dirty="0">
              <a:solidFill>
                <a:schemeClr val="tx1"/>
              </a:solidFill>
            </a:endParaRPr>
          </a:p>
          <a:p>
            <a:r>
              <a:rPr lang="en-IN" b="1" dirty="0">
                <a:solidFill>
                  <a:schemeClr val="tx1"/>
                </a:solidFill>
              </a:rPr>
              <a:t>📋 Menu Management</a:t>
            </a:r>
            <a:endParaRPr lang="en-IN" dirty="0">
              <a:solidFill>
                <a:schemeClr val="tx1"/>
              </a:solidFill>
            </a:endParaRPr>
          </a:p>
          <a:p>
            <a:pPr lvl="1"/>
            <a:r>
              <a:rPr lang="en-IN" dirty="0">
                <a:solidFill>
                  <a:schemeClr val="tx1"/>
                </a:solidFill>
              </a:rPr>
              <a:t>Admin can add, update, or delete menu items.</a:t>
            </a:r>
          </a:p>
          <a:p>
            <a:pPr lvl="1"/>
            <a:r>
              <a:rPr lang="en-IN" dirty="0">
                <a:solidFill>
                  <a:schemeClr val="tx1"/>
                </a:solidFill>
              </a:rPr>
              <a:t>Categorization (Starters, Main Course, Beverages, etc.).</a:t>
            </a:r>
          </a:p>
          <a:p>
            <a:pPr lvl="1"/>
            <a:r>
              <a:rPr lang="en-IN" dirty="0">
                <a:solidFill>
                  <a:schemeClr val="tx1"/>
                </a:solidFill>
              </a:rPr>
              <a:t>Menu stored in database with CRUD operations.</a:t>
            </a:r>
          </a:p>
          <a:p>
            <a:pPr marL="0" lvl="1" indent="0">
              <a:buNone/>
            </a:pPr>
            <a:endParaRPr lang="en-IN" dirty="0">
              <a:solidFill>
                <a:schemeClr val="tx1"/>
              </a:solidFill>
            </a:endParaRPr>
          </a:p>
          <a:p>
            <a:r>
              <a:rPr lang="en-IN" b="1" dirty="0">
                <a:solidFill>
                  <a:schemeClr val="tx1"/>
                </a:solidFill>
              </a:rPr>
              <a:t>🛒 Order Management</a:t>
            </a:r>
            <a:endParaRPr lang="en-IN" dirty="0">
              <a:solidFill>
                <a:schemeClr val="tx1"/>
              </a:solidFill>
            </a:endParaRPr>
          </a:p>
          <a:p>
            <a:pPr lvl="1"/>
            <a:r>
              <a:rPr lang="en-IN" dirty="0">
                <a:solidFill>
                  <a:schemeClr val="tx1"/>
                </a:solidFill>
              </a:rPr>
              <a:t>Customers place orders via the frontend.</a:t>
            </a:r>
          </a:p>
          <a:p>
            <a:pPr lvl="1"/>
            <a:r>
              <a:rPr lang="en-IN" dirty="0">
                <a:solidFill>
                  <a:schemeClr val="tx1"/>
                </a:solidFill>
              </a:rPr>
              <a:t>Orders tracked in real time (Pending → Cooking → Served).</a:t>
            </a:r>
          </a:p>
          <a:p>
            <a:pPr lvl="1"/>
            <a:r>
              <a:rPr lang="en-IN" dirty="0">
                <a:solidFill>
                  <a:schemeClr val="tx1"/>
                </a:solidFill>
              </a:rPr>
              <a:t>Order history stored for analytics and reports.</a:t>
            </a:r>
          </a:p>
          <a:p>
            <a:pPr marL="0" lvl="1" indent="0">
              <a:buNone/>
            </a:pPr>
            <a:endParaRPr lang="en-IN" dirty="0">
              <a:solidFill>
                <a:schemeClr val="tx1"/>
              </a:solidFill>
            </a:endParaRPr>
          </a:p>
          <a:p>
            <a:r>
              <a:rPr lang="en-IN" b="1" dirty="0">
                <a:solidFill>
                  <a:schemeClr val="tx1"/>
                </a:solidFill>
              </a:rPr>
              <a:t>👥 User Management</a:t>
            </a:r>
            <a:endParaRPr lang="en-IN" dirty="0">
              <a:solidFill>
                <a:schemeClr val="tx1"/>
              </a:solidFill>
            </a:endParaRPr>
          </a:p>
          <a:p>
            <a:pPr lvl="1"/>
            <a:r>
              <a:rPr lang="en-IN" dirty="0">
                <a:solidFill>
                  <a:schemeClr val="tx1"/>
                </a:solidFill>
              </a:rPr>
              <a:t>Admin manages customer details.</a:t>
            </a:r>
          </a:p>
          <a:p>
            <a:pPr lvl="1"/>
            <a:r>
              <a:rPr lang="en-IN" dirty="0">
                <a:solidFill>
                  <a:schemeClr val="tx1"/>
                </a:solidFill>
              </a:rPr>
              <a:t>Profile management for users.</a:t>
            </a:r>
          </a:p>
          <a:p>
            <a:pPr lvl="1"/>
            <a:r>
              <a:rPr lang="en-IN" dirty="0">
                <a:solidFill>
                  <a:schemeClr val="tx1"/>
                </a:solidFill>
              </a:rPr>
              <a:t>View order history, preferences, and account activity.</a:t>
            </a:r>
          </a:p>
          <a:p>
            <a:pPr marL="0" lvl="1" indent="0">
              <a:buNone/>
            </a:pPr>
            <a:endParaRPr lang="en-IN" dirty="0">
              <a:solidFill>
                <a:schemeClr val="tx1"/>
              </a:solidFill>
            </a:endParaRPr>
          </a:p>
          <a:p>
            <a:r>
              <a:rPr lang="en-IN" b="1" dirty="0">
                <a:solidFill>
                  <a:schemeClr val="tx1"/>
                </a:solidFill>
              </a:rPr>
              <a:t>⚙️ Backend APIs</a:t>
            </a:r>
            <a:endParaRPr lang="en-IN" dirty="0">
              <a:solidFill>
                <a:schemeClr val="tx1"/>
              </a:solidFill>
            </a:endParaRPr>
          </a:p>
          <a:p>
            <a:pPr lvl="1"/>
            <a:r>
              <a:rPr lang="en-IN" dirty="0">
                <a:solidFill>
                  <a:schemeClr val="tx1"/>
                </a:solidFill>
              </a:rPr>
              <a:t>RESTful APIs developed using </a:t>
            </a:r>
            <a:r>
              <a:rPr lang="en-IN" b="1" dirty="0">
                <a:solidFill>
                  <a:schemeClr val="tx1"/>
                </a:solidFill>
              </a:rPr>
              <a:t>Express.js</a:t>
            </a:r>
            <a:r>
              <a:rPr lang="en-IN" dirty="0">
                <a:solidFill>
                  <a:schemeClr val="tx1"/>
                </a:solidFill>
              </a:rPr>
              <a:t>.</a:t>
            </a:r>
          </a:p>
          <a:p>
            <a:pPr lvl="1"/>
            <a:r>
              <a:rPr lang="en-IN" dirty="0">
                <a:solidFill>
                  <a:schemeClr val="tx1"/>
                </a:solidFill>
              </a:rPr>
              <a:t>Middleware authentication for secure endpoints.</a:t>
            </a:r>
          </a:p>
          <a:p>
            <a:pPr lvl="1"/>
            <a:r>
              <a:rPr lang="en-IN" dirty="0">
                <a:solidFill>
                  <a:schemeClr val="tx1"/>
                </a:solidFill>
              </a:rPr>
              <a:t>Integration with frontend (React) for seamless UX.</a:t>
            </a:r>
          </a:p>
          <a:p>
            <a:endParaRPr lang="en-IN" sz="2200" dirty="0">
              <a:solidFill>
                <a:schemeClr val="tx1"/>
              </a:solidFill>
            </a:endParaRPr>
          </a:p>
          <a:p>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92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1DCE-E3F1-C259-E240-9C201272FFA3}"/>
              </a:ext>
            </a:extLst>
          </p:cNvPr>
          <p:cNvSpPr>
            <a:spLocks noGrp="1"/>
          </p:cNvSpPr>
          <p:nvPr>
            <p:ph type="title"/>
          </p:nvPr>
        </p:nvSpPr>
        <p:spPr>
          <a:xfrm>
            <a:off x="117987" y="191729"/>
            <a:ext cx="7380093" cy="1091382"/>
          </a:xfrm>
        </p:spPr>
        <p:txBody>
          <a:bodyPr/>
          <a:lstStyle/>
          <a:p>
            <a:r>
              <a:rPr lang="en-US" dirty="0"/>
              <a:t>TECHNOLOGY STACK</a:t>
            </a:r>
            <a:br>
              <a:rPr lang="en-US" dirty="0"/>
            </a:br>
            <a:endParaRPr lang="en-IN" dirty="0"/>
          </a:p>
        </p:txBody>
      </p:sp>
      <p:sp>
        <p:nvSpPr>
          <p:cNvPr id="3" name="Content Placeholder 2">
            <a:extLst>
              <a:ext uri="{FF2B5EF4-FFF2-40B4-BE49-F238E27FC236}">
                <a16:creationId xmlns:a16="http://schemas.microsoft.com/office/drawing/2014/main" id="{D44C3B4D-1CC0-E00E-4D62-A338239A48C3}"/>
              </a:ext>
            </a:extLst>
          </p:cNvPr>
          <p:cNvSpPr>
            <a:spLocks noGrp="1"/>
          </p:cNvSpPr>
          <p:nvPr>
            <p:ph idx="1"/>
          </p:nvPr>
        </p:nvSpPr>
        <p:spPr>
          <a:xfrm>
            <a:off x="184354" y="916399"/>
            <a:ext cx="7247357" cy="4950603"/>
          </a:xfrm>
        </p:spPr>
        <p:txBody>
          <a:bodyPr>
            <a:noAutofit/>
          </a:bodyPr>
          <a:lstStyle/>
          <a:p>
            <a:r>
              <a:rPr lang="en-IN" sz="1800" b="1" dirty="0">
                <a:solidFill>
                  <a:schemeClr val="tx1"/>
                </a:solidFill>
                <a:latin typeface="Times New Roman" panose="02020603050405020304" pitchFamily="18" charset="0"/>
                <a:cs typeface="Times New Roman" panose="02020603050405020304" pitchFamily="18" charset="0"/>
              </a:rPr>
              <a:t>1. Frontend (Client-Side)</a:t>
            </a:r>
          </a:p>
          <a:p>
            <a:r>
              <a:rPr lang="en-IN" sz="1800" b="1" dirty="0">
                <a:solidFill>
                  <a:schemeClr val="tx1"/>
                </a:solidFill>
                <a:latin typeface="Times New Roman" panose="02020603050405020304" pitchFamily="18" charset="0"/>
                <a:cs typeface="Times New Roman" panose="02020603050405020304" pitchFamily="18" charset="0"/>
              </a:rPr>
              <a:t>React.js</a:t>
            </a:r>
            <a:r>
              <a:rPr lang="en-IN" sz="1800" dirty="0">
                <a:solidFill>
                  <a:schemeClr val="tx1"/>
                </a:solidFill>
                <a:latin typeface="Times New Roman" panose="02020603050405020304" pitchFamily="18" charset="0"/>
                <a:cs typeface="Times New Roman" panose="02020603050405020304" pitchFamily="18" charset="0"/>
              </a:rPr>
              <a:t> → Build UI components &amp; manage state</a:t>
            </a:r>
          </a:p>
          <a:p>
            <a:r>
              <a:rPr lang="en-IN" sz="1800" b="1" dirty="0">
                <a:solidFill>
                  <a:schemeClr val="tx1"/>
                </a:solidFill>
                <a:latin typeface="Times New Roman" panose="02020603050405020304" pitchFamily="18" charset="0"/>
                <a:cs typeface="Times New Roman" panose="02020603050405020304" pitchFamily="18" charset="0"/>
              </a:rPr>
              <a:t>React Router DOM</a:t>
            </a:r>
            <a:r>
              <a:rPr lang="en-IN" sz="1800" dirty="0">
                <a:solidFill>
                  <a:schemeClr val="tx1"/>
                </a:solidFill>
                <a:latin typeface="Times New Roman" panose="02020603050405020304" pitchFamily="18" charset="0"/>
                <a:cs typeface="Times New Roman" panose="02020603050405020304" pitchFamily="18" charset="0"/>
              </a:rPr>
              <a:t> → Page navigation (Home, Menu, Cart, Signup, Login)</a:t>
            </a:r>
          </a:p>
          <a:p>
            <a:r>
              <a:rPr lang="en-IN" sz="1800" b="1" dirty="0">
                <a:solidFill>
                  <a:schemeClr val="tx1"/>
                </a:solidFill>
                <a:latin typeface="Times New Roman" panose="02020603050405020304" pitchFamily="18" charset="0"/>
                <a:cs typeface="Times New Roman" panose="02020603050405020304" pitchFamily="18" charset="0"/>
              </a:rPr>
              <a:t>HTML5 + CSS3</a:t>
            </a:r>
            <a:r>
              <a:rPr lang="en-IN" sz="1800" dirty="0">
                <a:solidFill>
                  <a:schemeClr val="tx1"/>
                </a:solidFill>
                <a:latin typeface="Times New Roman" panose="02020603050405020304" pitchFamily="18" charset="0"/>
                <a:cs typeface="Times New Roman" panose="02020603050405020304" pitchFamily="18" charset="0"/>
              </a:rPr>
              <a:t> → Structure &amp; styling (inline &amp; styled components)</a:t>
            </a:r>
          </a:p>
          <a:p>
            <a:r>
              <a:rPr lang="en-IN" sz="1800" b="1" dirty="0">
                <a:solidFill>
                  <a:schemeClr val="tx1"/>
                </a:solidFill>
                <a:latin typeface="Times New Roman" panose="02020603050405020304" pitchFamily="18" charset="0"/>
                <a:cs typeface="Times New Roman" panose="02020603050405020304" pitchFamily="18" charset="0"/>
              </a:rPr>
              <a:t>JavaScript (ES6+)</a:t>
            </a:r>
            <a:r>
              <a:rPr lang="en-IN" sz="1800" dirty="0">
                <a:solidFill>
                  <a:schemeClr val="tx1"/>
                </a:solidFill>
                <a:latin typeface="Times New Roman" panose="02020603050405020304" pitchFamily="18" charset="0"/>
                <a:cs typeface="Times New Roman" panose="02020603050405020304" pitchFamily="18" charset="0"/>
              </a:rPr>
              <a:t> → Logic, events &amp; dynamic UI</a:t>
            </a:r>
          </a:p>
          <a:p>
            <a:r>
              <a:rPr lang="en-IN" sz="1800" b="1" dirty="0">
                <a:solidFill>
                  <a:schemeClr val="tx1"/>
                </a:solidFill>
                <a:latin typeface="Times New Roman" panose="02020603050405020304" pitchFamily="18" charset="0"/>
                <a:cs typeface="Times New Roman" panose="02020603050405020304" pitchFamily="18" charset="0"/>
              </a:rPr>
              <a:t>Local Storage</a:t>
            </a:r>
            <a:r>
              <a:rPr lang="en-IN" sz="1800" dirty="0">
                <a:solidFill>
                  <a:schemeClr val="tx1"/>
                </a:solidFill>
                <a:latin typeface="Times New Roman" panose="02020603050405020304" pitchFamily="18" charset="0"/>
                <a:cs typeface="Times New Roman" panose="02020603050405020304" pitchFamily="18" charset="0"/>
              </a:rPr>
              <a:t> → Store cart data &amp; login status</a:t>
            </a:r>
          </a:p>
          <a:p>
            <a:r>
              <a:rPr lang="en-IN" sz="1800" b="1" dirty="0">
                <a:solidFill>
                  <a:schemeClr val="tx1"/>
                </a:solidFill>
                <a:latin typeface="Times New Roman" panose="02020603050405020304" pitchFamily="18" charset="0"/>
                <a:cs typeface="Times New Roman" panose="02020603050405020304" pitchFamily="18" charset="0"/>
              </a:rPr>
              <a:t>2. Backend (Server-Side)</a:t>
            </a:r>
          </a:p>
          <a:p>
            <a:r>
              <a:rPr lang="en-IN" sz="1800" b="1" dirty="0">
                <a:solidFill>
                  <a:schemeClr val="tx1"/>
                </a:solidFill>
                <a:latin typeface="Times New Roman" panose="02020603050405020304" pitchFamily="18" charset="0"/>
                <a:cs typeface="Times New Roman" panose="02020603050405020304" pitchFamily="18" charset="0"/>
              </a:rPr>
              <a:t>Node.js</a:t>
            </a:r>
            <a:r>
              <a:rPr lang="en-IN" sz="1800" dirty="0">
                <a:solidFill>
                  <a:schemeClr val="tx1"/>
                </a:solidFill>
                <a:latin typeface="Times New Roman" panose="02020603050405020304" pitchFamily="18" charset="0"/>
                <a:cs typeface="Times New Roman" panose="02020603050405020304" pitchFamily="18" charset="0"/>
              </a:rPr>
              <a:t> → JavaScript runtime environment</a:t>
            </a:r>
          </a:p>
          <a:p>
            <a:r>
              <a:rPr lang="en-IN" sz="1800" b="1" dirty="0">
                <a:solidFill>
                  <a:schemeClr val="tx1"/>
                </a:solidFill>
                <a:latin typeface="Times New Roman" panose="02020603050405020304" pitchFamily="18" charset="0"/>
                <a:cs typeface="Times New Roman" panose="02020603050405020304" pitchFamily="18" charset="0"/>
              </a:rPr>
              <a:t>Express.js</a:t>
            </a:r>
            <a:r>
              <a:rPr lang="en-IN" sz="1800" dirty="0">
                <a:solidFill>
                  <a:schemeClr val="tx1"/>
                </a:solidFill>
                <a:latin typeface="Times New Roman" panose="02020603050405020304" pitchFamily="18" charset="0"/>
                <a:cs typeface="Times New Roman" panose="02020603050405020304" pitchFamily="18" charset="0"/>
              </a:rPr>
              <a:t> → Web framework for REST APIs</a:t>
            </a:r>
          </a:p>
          <a:p>
            <a:r>
              <a:rPr lang="en-IN" sz="1800" b="1" dirty="0">
                <a:solidFill>
                  <a:schemeClr val="tx1"/>
                </a:solidFill>
                <a:latin typeface="Times New Roman" panose="02020603050405020304" pitchFamily="18" charset="0"/>
                <a:cs typeface="Times New Roman" panose="02020603050405020304" pitchFamily="18" charset="0"/>
              </a:rPr>
              <a:t>CORS</a:t>
            </a:r>
            <a:r>
              <a:rPr lang="en-IN" sz="1800" dirty="0">
                <a:solidFill>
                  <a:schemeClr val="tx1"/>
                </a:solidFill>
                <a:latin typeface="Times New Roman" panose="02020603050405020304" pitchFamily="18" charset="0"/>
                <a:cs typeface="Times New Roman" panose="02020603050405020304" pitchFamily="18" charset="0"/>
              </a:rPr>
              <a:t> → Enable cross-origin requests</a:t>
            </a:r>
          </a:p>
          <a:p>
            <a:r>
              <a:rPr lang="en-IN" sz="1800" b="1" dirty="0">
                <a:solidFill>
                  <a:schemeClr val="tx1"/>
                </a:solidFill>
                <a:latin typeface="Times New Roman" panose="02020603050405020304" pitchFamily="18" charset="0"/>
                <a:cs typeface="Times New Roman" panose="02020603050405020304" pitchFamily="18" charset="0"/>
              </a:rPr>
              <a:t>3. Database / Storage</a:t>
            </a:r>
          </a:p>
          <a:p>
            <a:pPr lvl="1"/>
            <a:r>
              <a:rPr lang="en-IN" sz="1800" dirty="0" err="1">
                <a:solidFill>
                  <a:schemeClr val="tx1"/>
                </a:solidFill>
                <a:latin typeface="Times New Roman" panose="02020603050405020304" pitchFamily="18" charset="0"/>
                <a:cs typeface="Times New Roman" panose="02020603050405020304" pitchFamily="18" charset="0"/>
              </a:rPr>
              <a:t>users.json</a:t>
            </a:r>
            <a:r>
              <a:rPr lang="en-IN" sz="1800" dirty="0">
                <a:solidFill>
                  <a:schemeClr val="tx1"/>
                </a:solidFill>
                <a:latin typeface="Times New Roman" panose="02020603050405020304" pitchFamily="18" charset="0"/>
                <a:cs typeface="Times New Roman" panose="02020603050405020304" pitchFamily="18" charset="0"/>
              </a:rPr>
              <a:t> → Registered users</a:t>
            </a:r>
          </a:p>
          <a:p>
            <a:pPr lvl="1"/>
            <a:r>
              <a:rPr lang="en-IN" sz="1800" dirty="0" err="1">
                <a:solidFill>
                  <a:schemeClr val="tx1"/>
                </a:solidFill>
                <a:latin typeface="Times New Roman" panose="02020603050405020304" pitchFamily="18" charset="0"/>
                <a:cs typeface="Times New Roman" panose="02020603050405020304" pitchFamily="18" charset="0"/>
              </a:rPr>
              <a:t>menu.json</a:t>
            </a:r>
            <a:r>
              <a:rPr lang="en-IN" sz="1800" dirty="0">
                <a:solidFill>
                  <a:schemeClr val="tx1"/>
                </a:solidFill>
                <a:latin typeface="Times New Roman" panose="02020603050405020304" pitchFamily="18" charset="0"/>
                <a:cs typeface="Times New Roman" panose="02020603050405020304" pitchFamily="18" charset="0"/>
              </a:rPr>
              <a:t> → Food items (name, price, category, image, etc.)</a:t>
            </a:r>
          </a:p>
        </p:txBody>
      </p:sp>
      <p:sp>
        <p:nvSpPr>
          <p:cNvPr id="4" name="Slide Number Placeholder 3">
            <a:extLst>
              <a:ext uri="{FF2B5EF4-FFF2-40B4-BE49-F238E27FC236}">
                <a16:creationId xmlns:a16="http://schemas.microsoft.com/office/drawing/2014/main" id="{4F80AB01-136A-65A4-5BA7-C556C99B50A6}"/>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2115740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0" y="9035"/>
            <a:ext cx="7796464" cy="1839306"/>
          </a:xfrm>
        </p:spPr>
        <p:txBody>
          <a:bodyPr/>
          <a:lstStyle/>
          <a:p>
            <a:r>
              <a:rPr lang="en-US" dirty="0"/>
              <a:t>Features &amp; Functionalities</a:t>
            </a:r>
            <a:br>
              <a:rPr lang="en-US" dirty="0"/>
            </a:b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160995" y="1687287"/>
            <a:ext cx="4204176" cy="4833256"/>
          </a:xfrm>
        </p:spPr>
        <p:txBody>
          <a:bodyPr>
            <a:noAutofit/>
          </a:bodyPr>
          <a:lstStyle/>
          <a:p>
            <a:pPr marL="342900" indent="-342900">
              <a:buAutoNum type="arabicPeriod"/>
            </a:pPr>
            <a:r>
              <a:rPr lang="en-US" sz="2000" b="1" dirty="0">
                <a:solidFill>
                  <a:schemeClr val="tx1"/>
                </a:solidFill>
                <a:latin typeface="Times New Roman" panose="02020603050405020304" pitchFamily="18" charset="0"/>
                <a:cs typeface="Times New Roman" panose="02020603050405020304" pitchFamily="18" charset="0"/>
              </a:rPr>
              <a:t>User Authentication</a:t>
            </a:r>
          </a:p>
          <a:p>
            <a:r>
              <a:rPr lang="en-US" sz="2000" dirty="0">
                <a:solidFill>
                  <a:schemeClr val="tx1"/>
                </a:solidFill>
                <a:latin typeface="Times New Roman" panose="02020603050405020304" pitchFamily="18" charset="0"/>
                <a:cs typeface="Times New Roman" panose="02020603050405020304" pitchFamily="18" charset="0"/>
              </a:rPr>
              <a:t>✅ Signup Page → New users can create an account (stored in </a:t>
            </a:r>
            <a:r>
              <a:rPr lang="en-US" sz="2000" dirty="0" err="1">
                <a:solidFill>
                  <a:schemeClr val="tx1"/>
                </a:solidFill>
                <a:latin typeface="Times New Roman" panose="02020603050405020304" pitchFamily="18" charset="0"/>
                <a:cs typeface="Times New Roman" panose="02020603050405020304" pitchFamily="18" charset="0"/>
              </a:rPr>
              <a:t>users.json</a:t>
            </a:r>
            <a:r>
              <a:rPr lang="en-US" sz="2000" dirty="0">
                <a:solidFill>
                  <a:schemeClr val="tx1"/>
                </a:solidFill>
                <a:latin typeface="Times New Roman" panose="02020603050405020304" pitchFamily="18" charset="0"/>
                <a:cs typeface="Times New Roman" panose="02020603050405020304" pitchFamily="18" charset="0"/>
              </a:rPr>
              <a:t>)</a:t>
            </a:r>
          </a:p>
          <a:p>
            <a:r>
              <a:rPr lang="en-US" sz="2000" dirty="0">
                <a:solidFill>
                  <a:schemeClr val="tx1"/>
                </a:solidFill>
                <a:latin typeface="Times New Roman" panose="02020603050405020304" pitchFamily="18" charset="0"/>
                <a:cs typeface="Times New Roman" panose="02020603050405020304" pitchFamily="18" charset="0"/>
              </a:rPr>
              <a:t>✅ Login Page → Existing users can log in</a:t>
            </a:r>
          </a:p>
          <a:p>
            <a:r>
              <a:rPr lang="en-US" sz="2000" dirty="0">
                <a:solidFill>
                  <a:schemeClr val="tx1"/>
                </a:solidFill>
                <a:latin typeface="Times New Roman" panose="02020603050405020304" pitchFamily="18" charset="0"/>
                <a:cs typeface="Times New Roman" panose="02020603050405020304" pitchFamily="18" charset="0"/>
              </a:rPr>
              <a:t>✅ Login Status (</a:t>
            </a:r>
            <a:r>
              <a:rPr lang="en-US" sz="2000" dirty="0" err="1">
                <a:solidFill>
                  <a:schemeClr val="tx1"/>
                </a:solidFill>
                <a:latin typeface="Times New Roman" panose="02020603050405020304" pitchFamily="18" charset="0"/>
                <a:cs typeface="Times New Roman" panose="02020603050405020304" pitchFamily="18" charset="0"/>
              </a:rPr>
              <a:t>LocalStorage</a:t>
            </a:r>
            <a:r>
              <a:rPr lang="en-US" sz="2000" dirty="0">
                <a:solidFill>
                  <a:schemeClr val="tx1"/>
                </a:solidFill>
                <a:latin typeface="Times New Roman" panose="02020603050405020304" pitchFamily="18" charset="0"/>
                <a:cs typeface="Times New Roman" panose="02020603050405020304" pitchFamily="18" charset="0"/>
              </a:rPr>
              <a:t>) → Tracks whether a user is logged in or not</a:t>
            </a:r>
          </a:p>
          <a:p>
            <a:r>
              <a:rPr lang="en-US" sz="2000" dirty="0">
                <a:solidFill>
                  <a:schemeClr val="tx1"/>
                </a:solidFill>
                <a:latin typeface="Times New Roman" panose="02020603050405020304" pitchFamily="18" charset="0"/>
                <a:cs typeface="Times New Roman" panose="02020603050405020304" pitchFamily="18" charset="0"/>
              </a:rPr>
              <a:t>✅ Redirects →After Signup → Redirects to Login After Login → Redirects to </a:t>
            </a:r>
            <a:r>
              <a:rPr lang="en-US" sz="2000" dirty="0" err="1">
                <a:solidFill>
                  <a:schemeClr val="tx1"/>
                </a:solidFill>
                <a:latin typeface="Times New Roman" panose="02020603050405020304" pitchFamily="18" charset="0"/>
                <a:cs typeface="Times New Roman" panose="02020603050405020304" pitchFamily="18" charset="0"/>
              </a:rPr>
              <a:t>HomeIf</a:t>
            </a:r>
            <a:r>
              <a:rPr lang="en-US" sz="2000" dirty="0">
                <a:solidFill>
                  <a:schemeClr val="tx1"/>
                </a:solidFill>
                <a:latin typeface="Times New Roman" panose="02020603050405020304" pitchFamily="18" charset="0"/>
                <a:cs typeface="Times New Roman" panose="02020603050405020304" pitchFamily="18" charset="0"/>
              </a:rPr>
              <a:t> user not logged in and tries to order → Redirects to Login.</a:t>
            </a:r>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4506687" y="1687287"/>
            <a:ext cx="4204176" cy="4833256"/>
          </a:xfrm>
        </p:spPr>
        <p:txBody>
          <a:bodyPr>
            <a:normAutofit/>
          </a:bodyPr>
          <a:lstStyle/>
          <a:p>
            <a:r>
              <a:rPr lang="en-US" b="1" dirty="0">
                <a:solidFill>
                  <a:schemeClr val="tx1"/>
                </a:solidFill>
              </a:rPr>
              <a:t>2</a:t>
            </a:r>
            <a:r>
              <a:rPr lang="en-US" b="1" dirty="0">
                <a:solidFill>
                  <a:schemeClr val="tx1"/>
                </a:solidFill>
                <a:latin typeface="Times New Roman" panose="02020603050405020304" pitchFamily="18" charset="0"/>
                <a:cs typeface="Times New Roman" panose="02020603050405020304" pitchFamily="18" charset="0"/>
              </a:rPr>
              <a:t>. Homepage</a:t>
            </a:r>
          </a:p>
          <a:p>
            <a:r>
              <a:rPr lang="en-US" dirty="0">
                <a:solidFill>
                  <a:schemeClr val="tx1"/>
                </a:solidFill>
                <a:latin typeface="Times New Roman" panose="02020603050405020304" pitchFamily="18" charset="0"/>
                <a:cs typeface="Times New Roman" panose="02020603050405020304" pitchFamily="18" charset="0"/>
              </a:rPr>
              <a:t>✅ Attractive landing page with background image, restaurant logo &amp; motto</a:t>
            </a:r>
          </a:p>
          <a:p>
            <a:r>
              <a:rPr lang="en-US" dirty="0">
                <a:solidFill>
                  <a:schemeClr val="tx1"/>
                </a:solidFill>
                <a:latin typeface="Times New Roman" panose="02020603050405020304" pitchFamily="18" charset="0"/>
                <a:cs typeface="Times New Roman" panose="02020603050405020304" pitchFamily="18" charset="0"/>
              </a:rPr>
              <a:t>✅ Call-to-Action Button → "🍕 Order Now" → redirects to Menu</a:t>
            </a:r>
          </a:p>
          <a:p>
            <a:r>
              <a:rPr lang="en-US" dirty="0">
                <a:solidFill>
                  <a:schemeClr val="tx1"/>
                </a:solidFill>
                <a:latin typeface="Times New Roman" panose="02020603050405020304" pitchFamily="18" charset="0"/>
                <a:cs typeface="Times New Roman" panose="02020603050405020304" pitchFamily="18" charset="0"/>
              </a:rPr>
              <a:t>3</a:t>
            </a:r>
            <a:r>
              <a:rPr lang="en-US" b="1" dirty="0">
                <a:solidFill>
                  <a:schemeClr val="tx1"/>
                </a:solidFill>
                <a:latin typeface="Times New Roman" panose="02020603050405020304" pitchFamily="18" charset="0"/>
                <a:cs typeface="Times New Roman" panose="02020603050405020304" pitchFamily="18" charset="0"/>
              </a:rPr>
              <a:t>. Navigation Bar (Navbar)</a:t>
            </a:r>
          </a:p>
          <a:p>
            <a:r>
              <a:rPr lang="en-US" dirty="0">
                <a:solidFill>
                  <a:schemeClr val="tx1"/>
                </a:solidFill>
                <a:latin typeface="Times New Roman" panose="02020603050405020304" pitchFamily="18" charset="0"/>
                <a:cs typeface="Times New Roman" panose="02020603050405020304" pitchFamily="18" charset="0"/>
              </a:rPr>
              <a:t>✅ Links to: Home, Menu, Cart, Login</a:t>
            </a:r>
          </a:p>
          <a:p>
            <a:r>
              <a:rPr lang="en-US" dirty="0">
                <a:solidFill>
                  <a:schemeClr val="tx1"/>
                </a:solidFill>
                <a:latin typeface="Times New Roman" panose="02020603050405020304" pitchFamily="18" charset="0"/>
                <a:cs typeface="Times New Roman" panose="02020603050405020304" pitchFamily="18" charset="0"/>
              </a:rPr>
              <a:t>✅ Shows consistent design across pages</a:t>
            </a:r>
          </a:p>
          <a:p>
            <a:r>
              <a:rPr lang="en-US" dirty="0">
                <a:solidFill>
                  <a:schemeClr val="tx1"/>
                </a:solidFill>
                <a:latin typeface="Times New Roman" panose="02020603050405020304" pitchFamily="18" charset="0"/>
                <a:cs typeface="Times New Roman" panose="02020603050405020304" pitchFamily="18" charset="0"/>
              </a:rPr>
              <a:t>✅ "Signup" moved under Login page ("New here? Create Account")</a:t>
            </a:r>
          </a:p>
          <a:p>
            <a:r>
              <a:rPr lang="en-US" b="1" dirty="0">
                <a:solidFill>
                  <a:schemeClr val="tx1"/>
                </a:solidFill>
                <a:latin typeface="Times New Roman" panose="02020603050405020304" pitchFamily="18" charset="0"/>
                <a:cs typeface="Times New Roman" panose="02020603050405020304" pitchFamily="18" charset="0"/>
              </a:rPr>
              <a:t>4. Menu Page</a:t>
            </a:r>
          </a:p>
          <a:p>
            <a:r>
              <a:rPr lang="en-US" dirty="0">
                <a:solidFill>
                  <a:schemeClr val="tx1"/>
                </a:solidFill>
                <a:latin typeface="Times New Roman" panose="02020603050405020304" pitchFamily="18" charset="0"/>
                <a:cs typeface="Times New Roman" panose="02020603050405020304" pitchFamily="18" charset="0"/>
              </a:rPr>
              <a:t>✅ Dynamic Menu Items fetched from </a:t>
            </a:r>
            <a:r>
              <a:rPr lang="en-US" dirty="0" err="1">
                <a:solidFill>
                  <a:schemeClr val="tx1"/>
                </a:solidFill>
                <a:latin typeface="Times New Roman" panose="02020603050405020304" pitchFamily="18" charset="0"/>
                <a:cs typeface="Times New Roman" panose="02020603050405020304" pitchFamily="18" charset="0"/>
              </a:rPr>
              <a:t>menu.json</a:t>
            </a:r>
            <a:r>
              <a:rPr lang="en-US" dirty="0">
                <a:solidFill>
                  <a:schemeClr val="tx1"/>
                </a:solidFill>
                <a:latin typeface="Times New Roman" panose="02020603050405020304" pitchFamily="18" charset="0"/>
                <a:cs typeface="Times New Roman" panose="02020603050405020304" pitchFamily="18" charset="0"/>
              </a:rPr>
              <a:t> via API</a:t>
            </a:r>
          </a:p>
        </p:txBody>
      </p:sp>
    </p:spTree>
    <p:extLst>
      <p:ext uri="{BB962C8B-B14F-4D97-AF65-F5344CB8AC3E}">
        <p14:creationId xmlns:p14="http://schemas.microsoft.com/office/powerpoint/2010/main" val="246859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381666" y="376488"/>
            <a:ext cx="4897906" cy="781557"/>
          </a:xfrm>
        </p:spPr>
        <p:txBody>
          <a:bodyPr/>
          <a:lstStyle/>
          <a:p>
            <a:r>
              <a:rPr lang="en-US" dirty="0" err="1"/>
              <a:t>FuTURE</a:t>
            </a:r>
            <a:r>
              <a:rPr lang="en-US" dirty="0"/>
              <a:t> SCOPE</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508125" y="1621971"/>
            <a:ext cx="4066890" cy="4825249"/>
          </a:xfrm>
        </p:spPr>
        <p:txBody>
          <a:bodyPr>
            <a:normAutofit lnSpcReduction="10000"/>
          </a:bodyPr>
          <a:lstStyle/>
          <a:p>
            <a:pPr marL="0" indent="0">
              <a:buNone/>
            </a:pPr>
            <a:r>
              <a:rPr lang="en-US" sz="2000" b="1" dirty="0">
                <a:solidFill>
                  <a:schemeClr val="tx1"/>
                </a:solidFill>
              </a:rPr>
              <a:t>1</a:t>
            </a:r>
            <a:r>
              <a:rPr lang="en-US" sz="2000" b="1" dirty="0">
                <a:solidFill>
                  <a:schemeClr val="tx1"/>
                </a:solidFill>
                <a:latin typeface="Times New Roman" panose="02020603050405020304" pitchFamily="18" charset="0"/>
                <a:cs typeface="Times New Roman" panose="02020603050405020304" pitchFamily="18" charset="0"/>
              </a:rPr>
              <a:t>. User Account System</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Profile management (edit name, phone, address)</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Order history for logged-in users</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Password reset / Forgot password option</a:t>
            </a:r>
          </a:p>
          <a:p>
            <a:pPr marL="0" indent="0">
              <a:buNone/>
            </a:pP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2. Advanced Cart &amp; Ordering</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Multiple delivery addresses per user</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Save items as favorites</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Apply promo codes / discount coupons</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Real-time stock availability check</a:t>
            </a:r>
            <a:endParaRPr lang="en-US" dirty="0">
              <a:latin typeface="Times New Roman" panose="02020603050405020304" pitchFamily="18" charset="0"/>
              <a:cs typeface="Times New Roman" panose="02020603050405020304" pitchFamily="18" charset="0"/>
            </a:endParaRP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2159" y="1621971"/>
            <a:ext cx="3763950" cy="5108277"/>
          </a:xfrm>
        </p:spPr>
        <p:txBody>
          <a:bodyPr>
            <a:normAutofit fontScale="92500" lnSpcReduction="10000"/>
          </a:bodyPr>
          <a:lstStyle/>
          <a:p>
            <a:r>
              <a:rPr lang="en-IN" sz="2000" b="1" dirty="0">
                <a:solidFill>
                  <a:schemeClr val="tx1"/>
                </a:solidFill>
              </a:rPr>
              <a:t>3. </a:t>
            </a:r>
            <a:r>
              <a:rPr lang="en-IN" sz="2000" b="1" dirty="0">
                <a:solidFill>
                  <a:schemeClr val="tx1"/>
                </a:solidFill>
                <a:latin typeface="Times New Roman" panose="02020603050405020304" pitchFamily="18" charset="0"/>
                <a:cs typeface="Times New Roman" panose="02020603050405020304" pitchFamily="18" charset="0"/>
              </a:rPr>
              <a:t>Payments Integration</a:t>
            </a:r>
          </a:p>
          <a:p>
            <a:r>
              <a:rPr lang="en-IN" sz="2000" dirty="0">
                <a:solidFill>
                  <a:schemeClr val="tx1"/>
                </a:solidFill>
                <a:latin typeface="Times New Roman" panose="02020603050405020304" pitchFamily="18" charset="0"/>
                <a:cs typeface="Times New Roman" panose="02020603050405020304" pitchFamily="18" charset="0"/>
              </a:rPr>
              <a:t>Support for UPI, PayPal, Stripe, </a:t>
            </a:r>
            <a:r>
              <a:rPr lang="en-IN" sz="2000" dirty="0" err="1">
                <a:solidFill>
                  <a:schemeClr val="tx1"/>
                </a:solidFill>
                <a:latin typeface="Times New Roman" panose="02020603050405020304" pitchFamily="18" charset="0"/>
                <a:cs typeface="Times New Roman" panose="02020603050405020304" pitchFamily="18" charset="0"/>
              </a:rPr>
              <a:t>Razorpay</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rPr>
              <a:t>Cash on Delivery (COD) option</a:t>
            </a:r>
          </a:p>
          <a:p>
            <a:r>
              <a:rPr lang="en-IN" sz="2000" dirty="0">
                <a:solidFill>
                  <a:schemeClr val="tx1"/>
                </a:solidFill>
                <a:latin typeface="Times New Roman" panose="02020603050405020304" pitchFamily="18" charset="0"/>
                <a:cs typeface="Times New Roman" panose="02020603050405020304" pitchFamily="18" charset="0"/>
              </a:rPr>
              <a:t>Invoice generation &amp; email confirmation</a:t>
            </a:r>
          </a:p>
          <a:p>
            <a:r>
              <a:rPr lang="en-IN" sz="2000" b="1" dirty="0">
                <a:solidFill>
                  <a:schemeClr val="tx1"/>
                </a:solidFill>
                <a:latin typeface="Times New Roman" panose="02020603050405020304" pitchFamily="18" charset="0"/>
                <a:cs typeface="Times New Roman" panose="02020603050405020304" pitchFamily="18" charset="0"/>
              </a:rPr>
              <a:t>4. Live Order Tracking</a:t>
            </a:r>
          </a:p>
          <a:p>
            <a:r>
              <a:rPr lang="en-IN" sz="2000" dirty="0">
                <a:solidFill>
                  <a:schemeClr val="tx1"/>
                </a:solidFill>
                <a:latin typeface="Times New Roman" panose="02020603050405020304" pitchFamily="18" charset="0"/>
                <a:cs typeface="Times New Roman" panose="02020603050405020304" pitchFamily="18" charset="0"/>
              </a:rPr>
              <a:t>Order status flow.</a:t>
            </a:r>
          </a:p>
          <a:p>
            <a:r>
              <a:rPr lang="en-IN" sz="2000" dirty="0">
                <a:solidFill>
                  <a:schemeClr val="tx1"/>
                </a:solidFill>
                <a:latin typeface="Times New Roman" panose="02020603050405020304" pitchFamily="18" charset="0"/>
                <a:cs typeface="Times New Roman" panose="02020603050405020304" pitchFamily="18" charset="0"/>
              </a:rPr>
              <a:t>Delivery partner app/section to accept or reject deliveries</a:t>
            </a:r>
          </a:p>
          <a:p>
            <a:r>
              <a:rPr lang="en-US" sz="2000" b="1" dirty="0">
                <a:solidFill>
                  <a:schemeClr val="tx1"/>
                </a:solidFill>
                <a:latin typeface="Times New Roman" panose="02020603050405020304" pitchFamily="18" charset="0"/>
                <a:cs typeface="Times New Roman" panose="02020603050405020304" pitchFamily="18" charset="0"/>
              </a:rPr>
              <a:t>5. Reviews &amp; Ratings</a:t>
            </a:r>
          </a:p>
          <a:p>
            <a:r>
              <a:rPr lang="en-US" sz="2000" dirty="0">
                <a:solidFill>
                  <a:schemeClr val="tx1"/>
                </a:solidFill>
                <a:latin typeface="Times New Roman" panose="02020603050405020304" pitchFamily="18" charset="0"/>
                <a:cs typeface="Times New Roman" panose="02020603050405020304" pitchFamily="18" charset="0"/>
              </a:rPr>
              <a:t>Customers provide ratings &amp; feedback</a:t>
            </a:r>
          </a:p>
          <a:p>
            <a:r>
              <a:rPr lang="en-US" sz="2000" dirty="0">
                <a:solidFill>
                  <a:schemeClr val="tx1"/>
                </a:solidFill>
                <a:latin typeface="Times New Roman" panose="02020603050405020304" pitchFamily="18" charset="0"/>
                <a:cs typeface="Times New Roman" panose="02020603050405020304" pitchFamily="18" charset="0"/>
              </a:rPr>
              <a:t>Show average rating on menu items</a:t>
            </a:r>
          </a:p>
          <a:p>
            <a:endParaRPr lang="en-IN" sz="2000" dirty="0">
              <a:solidFill>
                <a:schemeClr val="tx1"/>
              </a:solidFill>
            </a:endParaRPr>
          </a:p>
          <a:p>
            <a:pPr>
              <a:buNone/>
            </a:pP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0" name="Picture Placeholder 9" descr="A person wearing a blue suit and headphones pointing at a computer">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duotone>
              <a:prstClr val="black"/>
              <a:schemeClr val="accent1">
                <a:tint val="45000"/>
                <a:satMod val="400000"/>
              </a:schemeClr>
            </a:duotone>
          </a:blip>
          <a:srcRect l="31888" r="31888"/>
          <a:stretch/>
        </p:blipFill>
        <p:spPr>
          <a:xfrm>
            <a:off x="8989454" y="796667"/>
            <a:ext cx="3202545" cy="5892607"/>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p:txBody>
          <a:bodyPr/>
          <a:lstStyle/>
          <a:p>
            <a:r>
              <a:rPr lang="en-US" sz="7000"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644</TotalTime>
  <Words>823</Words>
  <Application>Microsoft Office PowerPoint</Application>
  <PresentationFormat>Widescreen</PresentationFormat>
  <Paragraphs>103</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Sabon Next LT</vt:lpstr>
      <vt:lpstr>Times New Roman</vt:lpstr>
      <vt:lpstr>Custom</vt:lpstr>
      <vt:lpstr>FOODIE WEBSITE</vt:lpstr>
      <vt:lpstr>FOODIE – ONLINE FOOD ORDERING SYSTEM </vt:lpstr>
      <vt:lpstr>Contents</vt:lpstr>
      <vt:lpstr>INTRODUCTION </vt:lpstr>
      <vt:lpstr>Problem Statement </vt:lpstr>
      <vt:lpstr>Proposed Solution  </vt:lpstr>
      <vt:lpstr>TECHNOLOGY STACK </vt:lpstr>
      <vt:lpstr>Features &amp; Functionalities </vt:lpstr>
      <vt:lpstr>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Prioritization</dc:title>
  <dc:creator>Aadish Kumar</dc:creator>
  <cp:lastModifiedBy>DHRUV SHARMA</cp:lastModifiedBy>
  <cp:revision>22</cp:revision>
  <dcterms:created xsi:type="dcterms:W3CDTF">2025-05-12T17:14:51Z</dcterms:created>
  <dcterms:modified xsi:type="dcterms:W3CDTF">2025-09-24T12:11:59Z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